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6A4B-C2AD-4F0E-83E5-F5071EE8D36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D0FB-51CF-4B9C-9245-6B287FAC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79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6A4B-C2AD-4F0E-83E5-F5071EE8D36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D0FB-51CF-4B9C-9245-6B287FAC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02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6A4B-C2AD-4F0E-83E5-F5071EE8D36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D0FB-51CF-4B9C-9245-6B287FAC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089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6A4B-C2AD-4F0E-83E5-F5071EE8D36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D0FB-51CF-4B9C-9245-6B287FAC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58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6A4B-C2AD-4F0E-83E5-F5071EE8D36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D0FB-51CF-4B9C-9245-6B287FAC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383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6A4B-C2AD-4F0E-83E5-F5071EE8D36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D0FB-51CF-4B9C-9245-6B287FAC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41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6A4B-C2AD-4F0E-83E5-F5071EE8D36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D0FB-51CF-4B9C-9245-6B287FAC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46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6A4B-C2AD-4F0E-83E5-F5071EE8D36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D0FB-51CF-4B9C-9245-6B287FAC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44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6A4B-C2AD-4F0E-83E5-F5071EE8D36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D0FB-51CF-4B9C-9245-6B287FAC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44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6A4B-C2AD-4F0E-83E5-F5071EE8D36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D0FB-51CF-4B9C-9245-6B287FAC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5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96A4B-C2AD-4F0E-83E5-F5071EE8D36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D0FB-51CF-4B9C-9245-6B287FAC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932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96A4B-C2AD-4F0E-83E5-F5071EE8D36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3D0FB-51CF-4B9C-9245-6B287FAC0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316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Unit-2</a:t>
            </a:r>
            <a:r>
              <a:rPr lang="en-US" sz="8000" dirty="0" smtClean="0"/>
              <a:t> </a:t>
            </a:r>
            <a:br>
              <a:rPr lang="en-US" sz="8000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82082"/>
            <a:ext cx="9144000" cy="1655762"/>
          </a:xfrm>
        </p:spPr>
        <p:txBody>
          <a:bodyPr>
            <a:normAutofit/>
          </a:bodyPr>
          <a:lstStyle/>
          <a:p>
            <a:r>
              <a:rPr lang="en-US" sz="3400" dirty="0" smtClean="0"/>
              <a:t> Growth of Functions and Analysis of Algorithm</a:t>
            </a:r>
            <a:endParaRPr lang="en-IN" sz="3400" b="1" dirty="0" smtClean="0"/>
          </a:p>
          <a:p>
            <a:endParaRPr lang="en-IN" sz="3400" dirty="0"/>
          </a:p>
        </p:txBody>
      </p:sp>
      <p:sp>
        <p:nvSpPr>
          <p:cNvPr id="4" name="TextBox 2"/>
          <p:cNvSpPr txBox="1"/>
          <p:nvPr/>
        </p:nvSpPr>
        <p:spPr>
          <a:xfrm>
            <a:off x="3896238" y="4885016"/>
            <a:ext cx="4620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Prepared by Assistant Professor Mital Sarvaiya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57598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Table of content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 algn="ctr">
              <a:spcBef>
                <a:spcPts val="1000"/>
              </a:spcBef>
              <a:buNone/>
            </a:pP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799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A3787A2-30F0-5D4B-8343-36050B845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E032C7-5D49-0C76-A947-09DDC4922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86189C-D37E-A7DB-1A7B-0CEC68E90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Structures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just a way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flow of control in programs.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 algorithm or program can be clearer and more understood if they use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 contained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called as logic or control structures.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basically analyzes and chooses in which direction a program flows based on certain parameters or conditions. </a:t>
            </a:r>
          </a:p>
        </p:txBody>
      </p:sp>
    </p:spTree>
    <p:extLst>
      <p:ext uri="{BB962C8B-B14F-4D97-AF65-F5344CB8AC3E}">
        <p14:creationId xmlns:p14="http://schemas.microsoft.com/office/powerpoint/2010/main" val="1236975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A3787A2-30F0-5D4B-8343-36050B845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E032C7-5D49-0C76-A947-09DDC4922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86189C-D37E-A7DB-1A7B-0CEC68E90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types of logic, or flow of control, known as: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Sequencing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or Conditional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Iterative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Looping And ii) Recursive calls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74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5405FFA-D8ED-E0D6-5B2F-CD533DB2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4831F3-2471-0522-3541-3998CC28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E93BA5-2FBB-7BF5-D9E3-58F840F6B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 rtl="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logic: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P1 and P2 be two fragments of algorithm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be single instruction or complicated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 algorithms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t1 and t2 be the times taken by P1 and P2, respectively.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times may depend on various parameter such as the instance size.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sequential rule says that the time required to compute “P1;P2”, that is first P1 and P2, is simply t1+t2. By the maximum rule, this time is in theta(max(t1,t2)).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373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8C836FF-2098-6D83-470E-2C825A7DB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BFB5FD-B489-E665-4A21-F6CFCB05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0D3A3D-D6D7-E274-264F-379B6D1BC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 rtl="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logic: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its simplicity, applying this rule is sometimes less obvious that it may appear.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it could happen that one of the parameters that control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t2 be depends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result of the computation performed by P1.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analysis of “P1;P2” cannot always be performed by considering P1 and P2 independently.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9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5D4CD5F-9188-69CB-E6BB-A648CA6DE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BDC3D2-F59C-F0FC-CCB6-9E85777F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07F9F316-AE21-3D8C-85F5-572781AC43B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99087" y="1789342"/>
          <a:ext cx="9061570" cy="478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0785">
                  <a:extLst>
                    <a:ext uri="{9D8B030D-6E8A-4147-A177-3AD203B41FA5}">
                      <a16:colId xmlns:a16="http://schemas.microsoft.com/office/drawing/2014/main" xmlns="" val="2809642054"/>
                    </a:ext>
                  </a:extLst>
                </a:gridCol>
                <a:gridCol w="4530785">
                  <a:extLst>
                    <a:ext uri="{9D8B030D-6E8A-4147-A177-3AD203B41FA5}">
                      <a16:colId xmlns:a16="http://schemas.microsoft.com/office/drawing/2014/main" xmlns="" val="776894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</a:p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Flowchart</a:t>
                      </a: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5523212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0A1AB8C8-0AEA-005C-EAC9-65050082F68B}"/>
              </a:ext>
            </a:extLst>
          </p:cNvPr>
          <p:cNvCxnSpPr/>
          <p:nvPr/>
        </p:nvCxnSpPr>
        <p:spPr>
          <a:xfrm>
            <a:off x="8272732" y="2329132"/>
            <a:ext cx="0" cy="301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F3C5C8C-5F24-F035-FE46-DDF3F25F4155}"/>
              </a:ext>
            </a:extLst>
          </p:cNvPr>
          <p:cNvSpPr/>
          <p:nvPr/>
        </p:nvSpPr>
        <p:spPr>
          <a:xfrm>
            <a:off x="7215996" y="2631057"/>
            <a:ext cx="2113471" cy="379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46A9CA6B-98A3-7A84-C31C-A21A0C82D09F}"/>
              </a:ext>
            </a:extLst>
          </p:cNvPr>
          <p:cNvCxnSpPr/>
          <p:nvPr/>
        </p:nvCxnSpPr>
        <p:spPr>
          <a:xfrm>
            <a:off x="8272731" y="3010620"/>
            <a:ext cx="0" cy="301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45E4E7D-E962-4F59-95C3-5C44923B27D6}"/>
              </a:ext>
            </a:extLst>
          </p:cNvPr>
          <p:cNvSpPr txBox="1"/>
          <p:nvPr/>
        </p:nvSpPr>
        <p:spPr>
          <a:xfrm>
            <a:off x="8048952" y="2610510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P1</a:t>
            </a:r>
            <a:endParaRPr lang="en-IN" sz="20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6EA1411D-4DF2-404B-42CC-F0944B975229}"/>
              </a:ext>
            </a:extLst>
          </p:cNvPr>
          <p:cNvSpPr/>
          <p:nvPr/>
        </p:nvSpPr>
        <p:spPr>
          <a:xfrm>
            <a:off x="7215995" y="3319525"/>
            <a:ext cx="2113471" cy="379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93C0DE2-A297-D573-1728-05D4ADACA96D}"/>
              </a:ext>
            </a:extLst>
          </p:cNvPr>
          <p:cNvSpPr txBox="1"/>
          <p:nvPr/>
        </p:nvSpPr>
        <p:spPr>
          <a:xfrm>
            <a:off x="8048952" y="3319525"/>
            <a:ext cx="450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P2</a:t>
            </a:r>
            <a:endParaRPr lang="en-IN" sz="20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1BE1B1A9-E9C9-6601-23BE-5BBC6B3DCAB4}"/>
              </a:ext>
            </a:extLst>
          </p:cNvPr>
          <p:cNvCxnSpPr/>
          <p:nvPr/>
        </p:nvCxnSpPr>
        <p:spPr>
          <a:xfrm>
            <a:off x="8261227" y="3719635"/>
            <a:ext cx="0" cy="301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221100D0-CFA0-6932-AB44-3570624968CF}"/>
              </a:ext>
            </a:extLst>
          </p:cNvPr>
          <p:cNvSpPr/>
          <p:nvPr/>
        </p:nvSpPr>
        <p:spPr>
          <a:xfrm>
            <a:off x="7204491" y="4042107"/>
            <a:ext cx="2113471" cy="379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B85E9417-9600-F7CC-CD60-967370B4C453}"/>
              </a:ext>
            </a:extLst>
          </p:cNvPr>
          <p:cNvSpPr txBox="1"/>
          <p:nvPr/>
        </p:nvSpPr>
        <p:spPr>
          <a:xfrm>
            <a:off x="8037447" y="4048317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97975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AC28091-8B07-4701-2E93-CF26DB6D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780FF7-2420-06C0-3220-0699F60E9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44C448BF-C6C7-073F-BE69-683A161CD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378704"/>
              </p:ext>
            </p:extLst>
          </p:nvPr>
        </p:nvGraphicFramePr>
        <p:xfrm>
          <a:off x="960524" y="3054347"/>
          <a:ext cx="5714521" cy="3413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95607">
                  <a:extLst>
                    <a:ext uri="{9D8B030D-6E8A-4147-A177-3AD203B41FA5}">
                      <a16:colId xmlns:a16="http://schemas.microsoft.com/office/drawing/2014/main" xmlns="" val="1579591053"/>
                    </a:ext>
                  </a:extLst>
                </a:gridCol>
                <a:gridCol w="1397480">
                  <a:extLst>
                    <a:ext uri="{9D8B030D-6E8A-4147-A177-3AD203B41FA5}">
                      <a16:colId xmlns:a16="http://schemas.microsoft.com/office/drawing/2014/main" xmlns="" val="1618849734"/>
                    </a:ext>
                  </a:extLst>
                </a:gridCol>
                <a:gridCol w="1121434">
                  <a:extLst>
                    <a:ext uri="{9D8B030D-6E8A-4147-A177-3AD203B41FA5}">
                      <a16:colId xmlns:a16="http://schemas.microsoft.com/office/drawing/2014/main" xmlns="" val="243652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Statement</a:t>
                      </a:r>
                      <a:endParaRPr lang="en-IN" sz="2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Frequency</a:t>
                      </a:r>
                      <a:endParaRPr lang="en-IN" sz="2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Time</a:t>
                      </a:r>
                      <a:endParaRPr lang="en-IN" sz="2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4591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Function Add()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-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-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05280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Read(m);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16124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Read(n);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066091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0=m+n;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3954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Write(o);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835120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End function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-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-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186614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Total Time</a:t>
                      </a:r>
                      <a:endParaRPr lang="en-IN" sz="2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4</a:t>
                      </a:r>
                      <a:endParaRPr lang="en-IN" sz="2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9958738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28983621-91C2-5FC4-F55C-7E6904E8B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033935"/>
              </p:ext>
            </p:extLst>
          </p:nvPr>
        </p:nvGraphicFramePr>
        <p:xfrm>
          <a:off x="7612465" y="3034637"/>
          <a:ext cx="3959925" cy="3444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3623">
                  <a:extLst>
                    <a:ext uri="{9D8B030D-6E8A-4147-A177-3AD203B41FA5}">
                      <a16:colId xmlns:a16="http://schemas.microsoft.com/office/drawing/2014/main" xmlns="" val="4004823629"/>
                    </a:ext>
                  </a:extLst>
                </a:gridCol>
                <a:gridCol w="2196302">
                  <a:extLst>
                    <a:ext uri="{9D8B030D-6E8A-4147-A177-3AD203B41FA5}">
                      <a16:colId xmlns:a16="http://schemas.microsoft.com/office/drawing/2014/main" xmlns="" val="294155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Variable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Memory allocation</a:t>
                      </a:r>
                      <a:endParaRPr lang="en-IN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79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Int m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 bytes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7448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Int n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 bytes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9309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Int o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 bytes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2505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Total Memory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 Bytes</a:t>
                      </a:r>
                      <a:endParaRPr lang="en-IN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44426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64904" y="2266123"/>
            <a:ext cx="2341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85893" y="2266123"/>
            <a:ext cx="4004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Space(Memory)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30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81E3AA-936B-7284-AB25-04364D7E4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5666EF-32C9-F9F0-19E9-5D8CC75E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5F6F0F-A2E4-6951-A600-36266D83A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 rtl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Selection or conditional statement: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P1 and P2 are two process execute depending on the conditional statement.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t1 and t2 be the times taken by P1 and P2, respectively.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selection rule says that the total time required for the execution is either t1 or t2 depending on the conditional statement.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control allows to test conditional and execute a block depending on the condition.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does not repeat the same block multiple times.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221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64BC77F-5C47-4D1C-55AF-C52FC7D37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214599-CCAA-5F08-1CAB-AF826DFB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E43F8092-32D8-38FF-4493-9EA26F8AF5F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99087" y="1789342"/>
          <a:ext cx="9061570" cy="478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0785">
                  <a:extLst>
                    <a:ext uri="{9D8B030D-6E8A-4147-A177-3AD203B41FA5}">
                      <a16:colId xmlns:a16="http://schemas.microsoft.com/office/drawing/2014/main" xmlns="" val="2809642054"/>
                    </a:ext>
                  </a:extLst>
                </a:gridCol>
                <a:gridCol w="4530785">
                  <a:extLst>
                    <a:ext uri="{9D8B030D-6E8A-4147-A177-3AD203B41FA5}">
                      <a16:colId xmlns:a16="http://schemas.microsoft.com/office/drawing/2014/main" xmlns="" val="776894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</a:p>
                    <a:p>
                      <a:pPr algn="l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then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Block1</a:t>
                      </a:r>
                    </a:p>
                    <a:p>
                      <a:pPr algn="l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Block2</a:t>
                      </a:r>
                    </a:p>
                    <a:p>
                      <a:pPr algn="l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Flowchart</a:t>
                      </a: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5523212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55F4140E-360C-6A68-3D18-868B5A6F0A87}"/>
              </a:ext>
            </a:extLst>
          </p:cNvPr>
          <p:cNvCxnSpPr/>
          <p:nvPr/>
        </p:nvCxnSpPr>
        <p:spPr>
          <a:xfrm>
            <a:off x="8272732" y="2329132"/>
            <a:ext cx="0" cy="301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E035A212-673C-2941-4ED9-FD5E37EE9673}"/>
              </a:ext>
            </a:extLst>
          </p:cNvPr>
          <p:cNvCxnSpPr/>
          <p:nvPr/>
        </p:nvCxnSpPr>
        <p:spPr>
          <a:xfrm>
            <a:off x="9859990" y="3098960"/>
            <a:ext cx="0" cy="301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358DA584-7D54-DA8C-82AE-BD269BDF8234}"/>
              </a:ext>
            </a:extLst>
          </p:cNvPr>
          <p:cNvCxnSpPr>
            <a:cxnSpLocks/>
          </p:cNvCxnSpPr>
          <p:nvPr/>
        </p:nvCxnSpPr>
        <p:spPr>
          <a:xfrm>
            <a:off x="8333835" y="4752357"/>
            <a:ext cx="0" cy="18223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xmlns="" id="{7AC06D37-A688-7A18-21BB-B72CAE4187E0}"/>
              </a:ext>
            </a:extLst>
          </p:cNvPr>
          <p:cNvCxnSpPr/>
          <p:nvPr/>
        </p:nvCxnSpPr>
        <p:spPr>
          <a:xfrm>
            <a:off x="6673968" y="3098960"/>
            <a:ext cx="0" cy="301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Diamond 3">
            <a:extLst>
              <a:ext uri="{FF2B5EF4-FFF2-40B4-BE49-F238E27FC236}">
                <a16:creationId xmlns:a16="http://schemas.microsoft.com/office/drawing/2014/main" xmlns="" id="{428C6942-D080-85FF-B3A7-ADB7130A9814}"/>
              </a:ext>
            </a:extLst>
          </p:cNvPr>
          <p:cNvSpPr/>
          <p:nvPr/>
        </p:nvSpPr>
        <p:spPr>
          <a:xfrm>
            <a:off x="7414403" y="2631057"/>
            <a:ext cx="1716655" cy="923026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3CF08223-A55C-0A98-19FF-BFE588357C2A}"/>
              </a:ext>
            </a:extLst>
          </p:cNvPr>
          <p:cNvCxnSpPr/>
          <p:nvPr/>
        </p:nvCxnSpPr>
        <p:spPr>
          <a:xfrm flipH="1">
            <a:off x="6668218" y="3098960"/>
            <a:ext cx="74618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E77F2167-1CE5-163B-D644-CA58A12EAF94}"/>
              </a:ext>
            </a:extLst>
          </p:cNvPr>
          <p:cNvCxnSpPr/>
          <p:nvPr/>
        </p:nvCxnSpPr>
        <p:spPr>
          <a:xfrm flipH="1">
            <a:off x="9131058" y="3098960"/>
            <a:ext cx="74618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AE60CED0-FA16-4E7C-3410-D1839C1C0679}"/>
              </a:ext>
            </a:extLst>
          </p:cNvPr>
          <p:cNvSpPr/>
          <p:nvPr/>
        </p:nvSpPr>
        <p:spPr>
          <a:xfrm>
            <a:off x="6413738" y="3387946"/>
            <a:ext cx="1255146" cy="379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D9709072-77CD-7626-9EB5-E36F5AFE1EE5}"/>
              </a:ext>
            </a:extLst>
          </p:cNvPr>
          <p:cNvSpPr/>
          <p:nvPr/>
        </p:nvSpPr>
        <p:spPr>
          <a:xfrm>
            <a:off x="8867951" y="3402080"/>
            <a:ext cx="1255146" cy="379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79AE9F6-A645-B392-23A7-0C5CC6CB9694}"/>
              </a:ext>
            </a:extLst>
          </p:cNvPr>
          <p:cNvCxnSpPr>
            <a:stCxn id="19" idx="2"/>
          </p:cNvCxnSpPr>
          <p:nvPr/>
        </p:nvCxnSpPr>
        <p:spPr>
          <a:xfrm>
            <a:off x="7041311" y="3767509"/>
            <a:ext cx="0" cy="98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97FA2051-CBD0-AEA5-B753-7CA33281AA9A}"/>
              </a:ext>
            </a:extLst>
          </p:cNvPr>
          <p:cNvCxnSpPr/>
          <p:nvPr/>
        </p:nvCxnSpPr>
        <p:spPr>
          <a:xfrm>
            <a:off x="9626360" y="3781643"/>
            <a:ext cx="0" cy="98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BB35D8A3-CA3B-03A5-117C-830DBAF24B56}"/>
              </a:ext>
            </a:extLst>
          </p:cNvPr>
          <p:cNvCxnSpPr>
            <a:cxnSpLocks/>
          </p:cNvCxnSpPr>
          <p:nvPr/>
        </p:nvCxnSpPr>
        <p:spPr>
          <a:xfrm flipH="1">
            <a:off x="7041310" y="4752357"/>
            <a:ext cx="25850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947C7796-9C6B-A2A9-9217-DD82ABBE56F9}"/>
              </a:ext>
            </a:extLst>
          </p:cNvPr>
          <p:cNvSpPr txBox="1"/>
          <p:nvPr/>
        </p:nvSpPr>
        <p:spPr>
          <a:xfrm>
            <a:off x="7668884" y="2868552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04918ABA-45C1-53F4-0C2B-24E224E9CDB1}"/>
              </a:ext>
            </a:extLst>
          </p:cNvPr>
          <p:cNvSpPr txBox="1"/>
          <p:nvPr/>
        </p:nvSpPr>
        <p:spPr>
          <a:xfrm>
            <a:off x="6820076" y="341231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7C105312-8F88-E44A-25D0-AD7FA3EECE4C}"/>
              </a:ext>
            </a:extLst>
          </p:cNvPr>
          <p:cNvSpPr txBox="1"/>
          <p:nvPr/>
        </p:nvSpPr>
        <p:spPr>
          <a:xfrm>
            <a:off x="9310589" y="340153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171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64CBFB-F7CC-1EFD-115F-E308DE4BF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8D65D5-4184-CF80-1F36-15A004BBD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3D87CC5D-2D6B-C341-D1AD-0CF7D1566F8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0717" y="2160277"/>
          <a:ext cx="11119451" cy="439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31789">
                  <a:extLst>
                    <a:ext uri="{9D8B030D-6E8A-4147-A177-3AD203B41FA5}">
                      <a16:colId xmlns:a16="http://schemas.microsoft.com/office/drawing/2014/main" xmlns="" val="2092181750"/>
                    </a:ext>
                  </a:extLst>
                </a:gridCol>
                <a:gridCol w="1173192">
                  <a:extLst>
                    <a:ext uri="{9D8B030D-6E8A-4147-A177-3AD203B41FA5}">
                      <a16:colId xmlns:a16="http://schemas.microsoft.com/office/drawing/2014/main" xmlns="" val="2866772531"/>
                    </a:ext>
                  </a:extLst>
                </a:gridCol>
                <a:gridCol w="1216325">
                  <a:extLst>
                    <a:ext uri="{9D8B030D-6E8A-4147-A177-3AD203B41FA5}">
                      <a16:colId xmlns:a16="http://schemas.microsoft.com/office/drawing/2014/main" xmlns="" val="913008482"/>
                    </a:ext>
                  </a:extLst>
                </a:gridCol>
                <a:gridCol w="1302588">
                  <a:extLst>
                    <a:ext uri="{9D8B030D-6E8A-4147-A177-3AD203B41FA5}">
                      <a16:colId xmlns:a16="http://schemas.microsoft.com/office/drawing/2014/main" xmlns="" val="2058930470"/>
                    </a:ext>
                  </a:extLst>
                </a:gridCol>
                <a:gridCol w="1095557">
                  <a:extLst>
                    <a:ext uri="{9D8B030D-6E8A-4147-A177-3AD203B41FA5}">
                      <a16:colId xmlns:a16="http://schemas.microsoft.com/office/drawing/2014/main" xmlns="" val="153115442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262592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equal 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not equal 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equal 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not equal 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50985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 Division(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10747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If(b==0) then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85324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Write(“cannot divide by zero)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60716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607012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C&lt;-a/b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70554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Write(“division is”, c)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206164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end if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48058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end function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48655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Time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2650939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11594" y="1537840"/>
            <a:ext cx="2341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972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22385F4-76FD-A99B-1F8B-8242F392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151426-E6D2-AAE9-8104-F98F6158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B9A9A3F1-32A2-2B43-9DAF-75B45A131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805646"/>
              </p:ext>
            </p:extLst>
          </p:nvPr>
        </p:nvGraphicFramePr>
        <p:xfrm>
          <a:off x="3995447" y="3269313"/>
          <a:ext cx="3959925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3623">
                  <a:extLst>
                    <a:ext uri="{9D8B030D-6E8A-4147-A177-3AD203B41FA5}">
                      <a16:colId xmlns:a16="http://schemas.microsoft.com/office/drawing/2014/main" xmlns="" val="4004823629"/>
                    </a:ext>
                  </a:extLst>
                </a:gridCol>
                <a:gridCol w="2196302">
                  <a:extLst>
                    <a:ext uri="{9D8B030D-6E8A-4147-A177-3AD203B41FA5}">
                      <a16:colId xmlns:a16="http://schemas.microsoft.com/office/drawing/2014/main" xmlns="" val="294155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allocation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79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a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bytes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7448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b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bytes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9309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c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bytes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2505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Memory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Bytes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44426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71418" y="2267449"/>
            <a:ext cx="4004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Space(Memory)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988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36CCFD-9732-0207-D4DC-1A3A67744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AAD832-8DAE-4735-7319-13E6A514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BBC55A-36E7-DCD1-E3C7-63173920B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 rtl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Iterative or looping statement: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statement execute the block of statement multiple times till the condition is true.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loop is way of repeating lines of code more than once.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 of code contained within the loop will be executed again and again until the condition required by the loop is met.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condition is true then the body of the loop will be executed and as soon as condition becomes false the body of the loop will not be executed.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082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528DF4-109D-2C2B-5DCB-B3A9C5C81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12D314-08C1-D86A-2E02-7512528E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C2056642-B5C3-BE2C-A451-A62AA74994C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65215" y="9893936"/>
          <a:ext cx="9061570" cy="478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0785">
                  <a:extLst>
                    <a:ext uri="{9D8B030D-6E8A-4147-A177-3AD203B41FA5}">
                      <a16:colId xmlns:a16="http://schemas.microsoft.com/office/drawing/2014/main" xmlns="" val="2809642054"/>
                    </a:ext>
                  </a:extLst>
                </a:gridCol>
                <a:gridCol w="4530785">
                  <a:extLst>
                    <a:ext uri="{9D8B030D-6E8A-4147-A177-3AD203B41FA5}">
                      <a16:colId xmlns:a16="http://schemas.microsoft.com/office/drawing/2014/main" xmlns="" val="776894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</a:p>
                    <a:p>
                      <a:pPr algn="l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While(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do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Statement1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 2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Increment/decrement</a:t>
                      </a:r>
                    </a:p>
                    <a:p>
                      <a:pPr algn="l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while</a:t>
                      </a:r>
                    </a:p>
                    <a:p>
                      <a:pPr algn="ctr"/>
                      <a:endParaRPr lang="en-US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Flowchart</a:t>
                      </a: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5523212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03CFDB93-4331-176F-2F4C-233910C1CBDC}"/>
              </a:ext>
            </a:extLst>
          </p:cNvPr>
          <p:cNvCxnSpPr>
            <a:cxnSpLocks/>
          </p:cNvCxnSpPr>
          <p:nvPr/>
        </p:nvCxnSpPr>
        <p:spPr>
          <a:xfrm>
            <a:off x="8287831" y="2797035"/>
            <a:ext cx="0" cy="301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4DD073BB-418E-D6C1-004A-6626E7BB264A}"/>
              </a:ext>
            </a:extLst>
          </p:cNvPr>
          <p:cNvCxnSpPr/>
          <p:nvPr/>
        </p:nvCxnSpPr>
        <p:spPr>
          <a:xfrm>
            <a:off x="8272731" y="3805487"/>
            <a:ext cx="0" cy="301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97C5DCE5-2125-D1F4-D45E-4CAFA8F80D53}"/>
              </a:ext>
            </a:extLst>
          </p:cNvPr>
          <p:cNvCxnSpPr>
            <a:cxnSpLocks/>
          </p:cNvCxnSpPr>
          <p:nvPr/>
        </p:nvCxnSpPr>
        <p:spPr>
          <a:xfrm>
            <a:off x="8288549" y="5957089"/>
            <a:ext cx="0" cy="5189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Diamond 3">
            <a:extLst>
              <a:ext uri="{FF2B5EF4-FFF2-40B4-BE49-F238E27FC236}">
                <a16:creationId xmlns:a16="http://schemas.microsoft.com/office/drawing/2014/main" xmlns="" id="{8CBC071C-C56D-8C0F-BE5E-4AAFFA0D7AAB}"/>
              </a:ext>
            </a:extLst>
          </p:cNvPr>
          <p:cNvSpPr/>
          <p:nvPr/>
        </p:nvSpPr>
        <p:spPr>
          <a:xfrm>
            <a:off x="7414404" y="2882461"/>
            <a:ext cx="1716655" cy="923026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1BC109B4-24B0-24FE-C7C4-2D703D1B020A}"/>
              </a:ext>
            </a:extLst>
          </p:cNvPr>
          <p:cNvCxnSpPr/>
          <p:nvPr/>
        </p:nvCxnSpPr>
        <p:spPr>
          <a:xfrm flipH="1">
            <a:off x="9131059" y="3343974"/>
            <a:ext cx="74618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E5FB7491-068A-2869-BB4E-174722596FBE}"/>
              </a:ext>
            </a:extLst>
          </p:cNvPr>
          <p:cNvCxnSpPr>
            <a:cxnSpLocks/>
          </p:cNvCxnSpPr>
          <p:nvPr/>
        </p:nvCxnSpPr>
        <p:spPr>
          <a:xfrm>
            <a:off x="9877244" y="4285075"/>
            <a:ext cx="0" cy="98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99E205F1-6006-4C15-5CF0-37FCCD655838}"/>
              </a:ext>
            </a:extLst>
          </p:cNvPr>
          <p:cNvCxnSpPr/>
          <p:nvPr/>
        </p:nvCxnSpPr>
        <p:spPr>
          <a:xfrm>
            <a:off x="9877244" y="3329994"/>
            <a:ext cx="0" cy="98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2CEBBB91-A1F7-0A7C-3719-0BB5B30E0F2A}"/>
              </a:ext>
            </a:extLst>
          </p:cNvPr>
          <p:cNvSpPr txBox="1"/>
          <p:nvPr/>
        </p:nvSpPr>
        <p:spPr>
          <a:xfrm>
            <a:off x="7668884" y="3136542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6ACBFB1-5000-FBE3-B3BF-B201FFD2DA9C}"/>
              </a:ext>
            </a:extLst>
          </p:cNvPr>
          <p:cNvSpPr/>
          <p:nvPr/>
        </p:nvSpPr>
        <p:spPr>
          <a:xfrm>
            <a:off x="7323828" y="2422705"/>
            <a:ext cx="1871930" cy="379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8F2F3C71-CAE0-E002-BD1B-A5542A72235E}"/>
              </a:ext>
            </a:extLst>
          </p:cNvPr>
          <p:cNvCxnSpPr>
            <a:cxnSpLocks/>
          </p:cNvCxnSpPr>
          <p:nvPr/>
        </p:nvCxnSpPr>
        <p:spPr>
          <a:xfrm>
            <a:off x="8249913" y="2271742"/>
            <a:ext cx="0" cy="1509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0CF5B84-E929-DBD4-785B-90DE1C2461F0}"/>
              </a:ext>
            </a:extLst>
          </p:cNvPr>
          <p:cNvSpPr txBox="1"/>
          <p:nvPr/>
        </p:nvSpPr>
        <p:spPr>
          <a:xfrm>
            <a:off x="7594675" y="2441759"/>
            <a:ext cx="1691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B66525DD-FC77-7B0C-1AE8-E91E04C5F45D}"/>
              </a:ext>
            </a:extLst>
          </p:cNvPr>
          <p:cNvSpPr/>
          <p:nvPr/>
        </p:nvSpPr>
        <p:spPr>
          <a:xfrm>
            <a:off x="7313948" y="4095294"/>
            <a:ext cx="1871930" cy="379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xmlns="" id="{7C3A17D0-0007-2E28-4688-5670B38EDF4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99087" y="1789342"/>
          <a:ext cx="9061570" cy="478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0785">
                  <a:extLst>
                    <a:ext uri="{9D8B030D-6E8A-4147-A177-3AD203B41FA5}">
                      <a16:colId xmlns:a16="http://schemas.microsoft.com/office/drawing/2014/main" xmlns="" val="2809642054"/>
                    </a:ext>
                  </a:extLst>
                </a:gridCol>
                <a:gridCol w="4530785">
                  <a:extLst>
                    <a:ext uri="{9D8B030D-6E8A-4147-A177-3AD203B41FA5}">
                      <a16:colId xmlns:a16="http://schemas.microsoft.com/office/drawing/2014/main" xmlns="" val="776894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</a:p>
                    <a:p>
                      <a:pPr algn="l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Initialization</a:t>
                      </a:r>
                    </a:p>
                    <a:p>
                      <a:pPr algn="l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(Condition) 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 1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 2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Increment/Decrement</a:t>
                      </a:r>
                    </a:p>
                    <a:p>
                      <a:pPr algn="l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Flowchart</a:t>
                      </a: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5523212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2F836DC5-D0A7-3401-6735-005F171D1583}"/>
              </a:ext>
            </a:extLst>
          </p:cNvPr>
          <p:cNvSpPr/>
          <p:nvPr/>
        </p:nvSpPr>
        <p:spPr>
          <a:xfrm>
            <a:off x="7313948" y="4626051"/>
            <a:ext cx="1862050" cy="434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E42DBD22-5AA4-6B2D-B346-DB72BA0CC188}"/>
              </a:ext>
            </a:extLst>
          </p:cNvPr>
          <p:cNvSpPr/>
          <p:nvPr/>
        </p:nvSpPr>
        <p:spPr>
          <a:xfrm>
            <a:off x="7323917" y="5209728"/>
            <a:ext cx="1862050" cy="434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5681CC7E-8234-4DD5-9198-5594658D70DA}"/>
              </a:ext>
            </a:extLst>
          </p:cNvPr>
          <p:cNvSpPr/>
          <p:nvPr/>
        </p:nvSpPr>
        <p:spPr>
          <a:xfrm>
            <a:off x="7313948" y="5776369"/>
            <a:ext cx="1862050" cy="434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57E07BAD-6B01-B197-E86D-DDB6DA68C515}"/>
              </a:ext>
            </a:extLst>
          </p:cNvPr>
          <p:cNvSpPr txBox="1"/>
          <p:nvPr/>
        </p:nvSpPr>
        <p:spPr>
          <a:xfrm>
            <a:off x="7580335" y="4124533"/>
            <a:ext cx="1329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Statement 1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2CEE31C4-F5F8-F8C2-7914-0A4D78CB606D}"/>
              </a:ext>
            </a:extLst>
          </p:cNvPr>
          <p:cNvSpPr txBox="1"/>
          <p:nvPr/>
        </p:nvSpPr>
        <p:spPr>
          <a:xfrm>
            <a:off x="7580334" y="4667130"/>
            <a:ext cx="1329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Statement 2</a:t>
            </a: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54A159C5-626A-5DE3-4688-DEC4C99DCEEB}"/>
              </a:ext>
            </a:extLst>
          </p:cNvPr>
          <p:cNvSpPr txBox="1"/>
          <p:nvPr/>
        </p:nvSpPr>
        <p:spPr>
          <a:xfrm>
            <a:off x="8083260" y="522525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32AE2BC5-BE53-4D0E-09A6-CB827F0AEC7D}"/>
              </a:ext>
            </a:extLst>
          </p:cNvPr>
          <p:cNvSpPr txBox="1"/>
          <p:nvPr/>
        </p:nvSpPr>
        <p:spPr>
          <a:xfrm>
            <a:off x="7610663" y="5792341"/>
            <a:ext cx="12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INCR/DECR</a:t>
            </a:r>
            <a:endParaRPr lang="en-IN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909CC97E-F505-4CEA-50B1-13B97EEA7742}"/>
              </a:ext>
            </a:extLst>
          </p:cNvPr>
          <p:cNvCxnSpPr>
            <a:cxnSpLocks/>
          </p:cNvCxnSpPr>
          <p:nvPr/>
        </p:nvCxnSpPr>
        <p:spPr>
          <a:xfrm flipH="1">
            <a:off x="6737230" y="6476048"/>
            <a:ext cx="155060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97532EE1-F6BF-C14A-9B3E-899C966F9D15}"/>
              </a:ext>
            </a:extLst>
          </p:cNvPr>
          <p:cNvCxnSpPr/>
          <p:nvPr/>
        </p:nvCxnSpPr>
        <p:spPr>
          <a:xfrm flipH="1">
            <a:off x="6737230" y="3343974"/>
            <a:ext cx="6771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19F2C2EC-8433-8C47-77CB-7A4731187DA8}"/>
              </a:ext>
            </a:extLst>
          </p:cNvPr>
          <p:cNvCxnSpPr/>
          <p:nvPr/>
        </p:nvCxnSpPr>
        <p:spPr>
          <a:xfrm>
            <a:off x="6737230" y="3343974"/>
            <a:ext cx="0" cy="31320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28A0776D-6228-B188-9007-7D5D84B9AA64}"/>
              </a:ext>
            </a:extLst>
          </p:cNvPr>
          <p:cNvCxnSpPr/>
          <p:nvPr/>
        </p:nvCxnSpPr>
        <p:spPr>
          <a:xfrm>
            <a:off x="9877244" y="5225254"/>
            <a:ext cx="0" cy="1184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611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50845FA-B05A-32F7-03B6-1AD8BBA3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109BE0-ACCC-8E0B-D31E-DE13EF23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259291A2-8100-D5F5-0230-523CE913E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626050"/>
              </p:ext>
            </p:extLst>
          </p:nvPr>
        </p:nvGraphicFramePr>
        <p:xfrm>
          <a:off x="706082" y="2664733"/>
          <a:ext cx="5714521" cy="3749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95607">
                  <a:extLst>
                    <a:ext uri="{9D8B030D-6E8A-4147-A177-3AD203B41FA5}">
                      <a16:colId xmlns:a16="http://schemas.microsoft.com/office/drawing/2014/main" xmlns="" val="1579591053"/>
                    </a:ext>
                  </a:extLst>
                </a:gridCol>
                <a:gridCol w="1397480">
                  <a:extLst>
                    <a:ext uri="{9D8B030D-6E8A-4147-A177-3AD203B41FA5}">
                      <a16:colId xmlns:a16="http://schemas.microsoft.com/office/drawing/2014/main" xmlns="" val="1618849734"/>
                    </a:ext>
                  </a:extLst>
                </a:gridCol>
                <a:gridCol w="1121434">
                  <a:extLst>
                    <a:ext uri="{9D8B030D-6E8A-4147-A177-3AD203B41FA5}">
                      <a16:colId xmlns:a16="http://schemas.microsoft.com/office/drawing/2014/main" xmlns="" val="243652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Statement</a:t>
                      </a:r>
                      <a:endParaRPr lang="en-IN" sz="2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Frequency</a:t>
                      </a:r>
                      <a:endParaRPr lang="en-IN" sz="2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Time</a:t>
                      </a:r>
                      <a:endParaRPr lang="en-IN" sz="2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4591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Function Print(n)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-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-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05280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i&lt;-1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16124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While (i&lt;=n) 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n+1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n+1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066091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Write(i)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3954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i&lt;-i+1</a:t>
                      </a:r>
                    </a:p>
                    <a:p>
                      <a:pPr algn="l"/>
                      <a:r>
                        <a:rPr lang="en-US" sz="2200" dirty="0"/>
                        <a:t>End while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</a:t>
                      </a:r>
                    </a:p>
                    <a:p>
                      <a:pPr algn="ctr"/>
                      <a:r>
                        <a:rPr lang="en-US" sz="2200" dirty="0"/>
                        <a:t>-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</a:t>
                      </a:r>
                    </a:p>
                    <a:p>
                      <a:pPr algn="ctr"/>
                      <a:r>
                        <a:rPr lang="en-US" sz="2200" dirty="0"/>
                        <a:t>-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835120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End function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-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-</a:t>
                      </a:r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186614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Total Time</a:t>
                      </a:r>
                      <a:endParaRPr lang="en-IN" sz="2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3n+2</a:t>
                      </a:r>
                      <a:endParaRPr lang="en-IN" sz="2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9958738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BEE285EE-7905-9A04-AA05-822133636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547115"/>
              </p:ext>
            </p:extLst>
          </p:nvPr>
        </p:nvGraphicFramePr>
        <p:xfrm>
          <a:off x="7393875" y="2730696"/>
          <a:ext cx="3959925" cy="3611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3623">
                  <a:extLst>
                    <a:ext uri="{9D8B030D-6E8A-4147-A177-3AD203B41FA5}">
                      <a16:colId xmlns:a16="http://schemas.microsoft.com/office/drawing/2014/main" xmlns="" val="4004823629"/>
                    </a:ext>
                  </a:extLst>
                </a:gridCol>
                <a:gridCol w="2196302">
                  <a:extLst>
                    <a:ext uri="{9D8B030D-6E8A-4147-A177-3AD203B41FA5}">
                      <a16:colId xmlns:a16="http://schemas.microsoft.com/office/drawing/2014/main" xmlns="" val="294155860"/>
                    </a:ext>
                  </a:extLst>
                </a:gridCol>
              </a:tblGrid>
              <a:tr h="163048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Variable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Memory allocation</a:t>
                      </a:r>
                      <a:endParaRPr lang="en-IN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795618"/>
                  </a:ext>
                </a:extLst>
              </a:tr>
              <a:tr h="5024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Int n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 bytes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7448988"/>
                  </a:ext>
                </a:extLst>
              </a:tr>
              <a:tr h="5024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Int i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 bytes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9309489"/>
                  </a:ext>
                </a:extLst>
              </a:tr>
              <a:tr h="91616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Total Memory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 Bytes</a:t>
                      </a:r>
                      <a:endParaRPr lang="en-IN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44426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63810" y="2022869"/>
            <a:ext cx="2341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49755" y="2022869"/>
            <a:ext cx="4004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Space(Memory)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229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6DACDE5-29D4-6CF2-4584-534AA4D9E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98950B-EC4B-54A3-A7C6-7A918E78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198BC0-BAE9-6FCB-49BB-569685D69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074"/>
            <a:ext cx="10515600" cy="5342926"/>
          </a:xfrm>
        </p:spPr>
        <p:txBody>
          <a:bodyPr>
            <a:noAutofit/>
          </a:bodyPr>
          <a:lstStyle/>
          <a:p>
            <a:pPr marL="0" indent="0" algn="just" rtl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Recursive calls: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T(n) be the time taken by a call on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fib_rec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n&lt;2, the algorithm simply return n, which takes some constant time a.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most of the work is spent in the two recursive calls, which take time T(n-1) and T(n-2), respectively.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addition involving fn-1 and fn-2 (which are the values returned by the recursive calls) must be performed, as well as the control of the recursion and the test “ if n&lt;2”.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037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3837099-66EC-CCC9-5FA1-1A30D35E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11838B-E1C6-EFE5-D1B2-19A38E749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CA3487-CDAD-DF71-58EE-E83973E3F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 rtl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Recursive calls: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h(n) stand for the work involved in this addition and control, that is the time required by a call 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fib_rec(n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ignoring the time spent inside the two recursive calls.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definition T(n) and h(n) we obtain the following recurrence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T(n)={a  T(n-1)+T(n-2)+h(n)  if n=0 or n=1 otherwise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count the addition at units cost, h(n) is bounded by a constant, then constructive induction applies equally well to reach the same conclusion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T(n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belongs to O(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Similar reason shows that T(n) belongs to O(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T(n) belongs to O(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419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FAB12E-F184-894F-5C5C-A7197A926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1BE3EC-6FCD-5A57-07AA-D01E2F7B2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control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85844EFB-E86A-00FC-1F10-2CDA88B75AC0}"/>
              </a:ext>
            </a:extLst>
          </p:cNvPr>
          <p:cNvGraphicFramePr>
            <a:graphicFrameLocks noGrp="1"/>
          </p:cNvGraphicFramePr>
          <p:nvPr/>
        </p:nvGraphicFramePr>
        <p:xfrm>
          <a:off x="1565215" y="9893936"/>
          <a:ext cx="9061570" cy="478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0785">
                  <a:extLst>
                    <a:ext uri="{9D8B030D-6E8A-4147-A177-3AD203B41FA5}">
                      <a16:colId xmlns:a16="http://schemas.microsoft.com/office/drawing/2014/main" xmlns="" val="2809642054"/>
                    </a:ext>
                  </a:extLst>
                </a:gridCol>
                <a:gridCol w="4530785">
                  <a:extLst>
                    <a:ext uri="{9D8B030D-6E8A-4147-A177-3AD203B41FA5}">
                      <a16:colId xmlns:a16="http://schemas.microsoft.com/office/drawing/2014/main" xmlns="" val="776894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</a:p>
                    <a:p>
                      <a:pPr algn="l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While(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do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Statement1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 2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Increment/decrement</a:t>
                      </a:r>
                    </a:p>
                    <a:p>
                      <a:pPr algn="l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while</a:t>
                      </a:r>
                    </a:p>
                    <a:p>
                      <a:pPr algn="ctr"/>
                      <a:endParaRPr lang="en-US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Flowchart</a:t>
                      </a: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55232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FEB2E23-E9FE-E5D8-0367-B48DC3FDF163}"/>
              </a:ext>
            </a:extLst>
          </p:cNvPr>
          <p:cNvSpPr txBox="1"/>
          <p:nvPr/>
        </p:nvSpPr>
        <p:spPr>
          <a:xfrm>
            <a:off x="3048719" y="2390818"/>
            <a:ext cx="6094562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algn="ctr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fib_rec(n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n&lt;2 then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n;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fib_rec(n-1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fib_rec(n-2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if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</p:txBody>
      </p:sp>
    </p:spTree>
    <p:extLst>
      <p:ext uri="{BB962C8B-B14F-4D97-AF65-F5344CB8AC3E}">
        <p14:creationId xmlns:p14="http://schemas.microsoft.com/office/powerpoint/2010/main" val="2304429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1006</Words>
  <Application>Microsoft Office PowerPoint</Application>
  <PresentationFormat>Widescreen</PresentationFormat>
  <Paragraphs>293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Roboto Condensed Light</vt:lpstr>
      <vt:lpstr>Times New Roman</vt:lpstr>
      <vt:lpstr>Office Theme</vt:lpstr>
      <vt:lpstr>Unit-2  </vt:lpstr>
      <vt:lpstr>Table of content </vt:lpstr>
      <vt:lpstr>Analyzing control statement</vt:lpstr>
      <vt:lpstr>Analyzing control statement</vt:lpstr>
      <vt:lpstr>Analyzing control statement</vt:lpstr>
      <vt:lpstr>Analyzing control statement</vt:lpstr>
      <vt:lpstr>Analyzing control statement</vt:lpstr>
      <vt:lpstr>Analyzing control statement</vt:lpstr>
      <vt:lpstr>Analyzing control statement</vt:lpstr>
      <vt:lpstr>Analyzing control statement</vt:lpstr>
      <vt:lpstr>Analyzing control statement</vt:lpstr>
      <vt:lpstr>Analyzing control statement</vt:lpstr>
      <vt:lpstr>Analyzing control statement</vt:lpstr>
      <vt:lpstr>Analyzing control statement</vt:lpstr>
      <vt:lpstr>Analyzing control statement</vt:lpstr>
      <vt:lpstr>Analyzing control statement</vt:lpstr>
      <vt:lpstr>Analyzing control statement</vt:lpstr>
      <vt:lpstr>Analyzing control statement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Unit-2</dc:title>
  <dc:creator>Microsoft account</dc:creator>
  <cp:lastModifiedBy>Microsoft account</cp:lastModifiedBy>
  <cp:revision>2</cp:revision>
  <dcterms:created xsi:type="dcterms:W3CDTF">2026-02-20T03:02:51Z</dcterms:created>
  <dcterms:modified xsi:type="dcterms:W3CDTF">2026-02-20T03:05:22Z</dcterms:modified>
</cp:coreProperties>
</file>